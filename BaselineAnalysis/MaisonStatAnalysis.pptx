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0"/>
    <p:restoredTop sz="94605"/>
  </p:normalViewPr>
  <p:slideViewPr>
    <p:cSldViewPr snapToGrid="0">
      <p:cViewPr varScale="1">
        <p:scale>
          <a:sx n="107" d="100"/>
          <a:sy n="107" d="100"/>
        </p:scale>
        <p:origin x="8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CEC68B-FC9F-DC20-01B2-3001B9C874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13CCC18-E377-3195-08D0-3712A0A70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405764F-3B2E-ACC5-CB86-200F72790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D7E4-6826-B84E-8A79-CF7437A629E2}" type="datetimeFigureOut">
              <a:rPr lang="it-IT" smtClean="0"/>
              <a:t>05/02/25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5B735C1-BEC8-5BB9-6715-705B6A523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AF6A79F-9AC7-22C6-F032-EC0863431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89E3E-57B0-7145-B340-B74E85DA5F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272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F4E6BA-FF7A-0CC2-0A98-B9EE7B4A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C64733-0CFF-B103-6BA2-12C8AC481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7AF447-A82C-62C3-1C44-580934D9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D7E4-6826-B84E-8A79-CF7437A629E2}" type="datetimeFigureOut">
              <a:rPr lang="it-IT" smtClean="0"/>
              <a:t>05/02/25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D5C2764-1741-A19B-4271-A2E553201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6469AC1-3998-9DBF-5A0C-ECFD5076E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89E3E-57B0-7145-B340-B74E85DA5F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475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555F41-FA23-BF25-94F0-15D7D6DF2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B972ADC-57A8-6AAC-C148-A3B50839D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1B64A8A-A6EC-73BE-0C53-1BDA276A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D7E4-6826-B84E-8A79-CF7437A629E2}" type="datetimeFigureOut">
              <a:rPr lang="it-IT" smtClean="0"/>
              <a:t>05/02/25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5F3157A-E2CA-60FE-EF1A-CC956C393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15532A-B39D-259C-00AB-BD7E92E4C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89E3E-57B0-7145-B340-B74E85DA5F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7530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431771-DB74-8036-182D-C8DCEC00A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B4F243-37AB-BDE0-5508-42AC14FAAD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0815ED1-47A4-5B8B-A740-FAB9445EA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404E742-A655-E0A5-2F60-D8C09A91C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D7E4-6826-B84E-8A79-CF7437A629E2}" type="datetimeFigureOut">
              <a:rPr lang="it-IT" smtClean="0"/>
              <a:t>05/02/25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FC8D6DD-EE9C-51E6-3D13-5E90A63B0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AC0DEBF-80BE-C2A5-68CD-7491B71CF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89E3E-57B0-7145-B340-B74E85DA5F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7811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3F3706-F325-0916-49C8-2B9AA715C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6F6341-FC00-0D1F-0967-9837C46CF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E8F52E5-A00D-CBEE-6608-C6A26FCB3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37018DA-27D5-4AF4-E270-51E2239CAB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2A1E4B1-E1F0-D6DD-4B1D-728CB0024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859917E-007E-7EBC-5AE0-414EE0616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D7E4-6826-B84E-8A79-CF7437A629E2}" type="datetimeFigureOut">
              <a:rPr lang="it-IT" smtClean="0"/>
              <a:t>05/02/25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6179A85-2FA8-E2BB-AF67-980CF3E14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7287803-E10A-EBFA-BCE2-7DFDE451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89E3E-57B0-7145-B340-B74E85DA5F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3059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694440-8DC9-3D75-28F7-350C43A80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DC80F57-7681-AF66-4EBF-B326BE91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D7E4-6826-B84E-8A79-CF7437A629E2}" type="datetimeFigureOut">
              <a:rPr lang="it-IT" smtClean="0"/>
              <a:t>05/02/25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7C70EE5-0857-C32F-A8E7-69806F6E0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68A101A-F6A9-2AE2-CE1F-6C8A2116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89E3E-57B0-7145-B340-B74E85DA5F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474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B4D5476-6FF7-CB2A-2080-D87136B1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D7E4-6826-B84E-8A79-CF7437A629E2}" type="datetimeFigureOut">
              <a:rPr lang="it-IT" smtClean="0"/>
              <a:t>05/02/25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B08983D-2772-A9F7-D407-F62ACC5E8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96891D5-70A1-6FEA-44FF-6E0E1D5C9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89E3E-57B0-7145-B340-B74E85DA5F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8633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508D09-693D-BBCA-3BC5-D93486489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F05BA-E145-198F-AE93-34BB57665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378BAF-FA5D-F6F6-0AFB-F424B039B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EF4A39E-345C-E241-97A8-8813886A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D7E4-6826-B84E-8A79-CF7437A629E2}" type="datetimeFigureOut">
              <a:rPr lang="it-IT" smtClean="0"/>
              <a:t>05/02/25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0331D5A-C5C5-1EDE-5C27-A3D260373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8BC00B1-A147-1143-79C6-AC1B0B38D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89E3E-57B0-7145-B340-B74E85DA5F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0030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0E3CA0-9EA2-8CE4-024C-15C193012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94D3844-5DCD-E07D-67CE-D80E42F0EA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DCF2366-A8DA-66FB-3E34-5C6C36996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303BE35-906C-7EF8-D5E0-3C30E3FC1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D7E4-6826-B84E-8A79-CF7437A629E2}" type="datetimeFigureOut">
              <a:rPr lang="it-IT" smtClean="0"/>
              <a:t>05/02/25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FC2976E-40E1-E2D4-7776-2140A05F1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4303718-E8B8-9A30-C10A-1E95501F0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89E3E-57B0-7145-B340-B74E85DA5F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7976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39CA06-95C5-6669-4AD1-33BBD0390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8457EB4-38AF-0D01-2070-774173DF1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26355BF-DD5A-B25E-E67C-246928935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D7E4-6826-B84E-8A79-CF7437A629E2}" type="datetimeFigureOut">
              <a:rPr lang="it-IT" smtClean="0"/>
              <a:t>05/02/25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31ACB8-AC8C-7844-270A-F16F20B79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B8423F-DF30-27CB-11D6-41F1F92D5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89E3E-57B0-7145-B340-B74E85DA5F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4434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BCF601D-BB39-0D28-EF97-BF375E59F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8CE16D8-F90E-9F5C-ADF1-87897D657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357A89-A043-F001-93EA-42F02D1C8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D7E4-6826-B84E-8A79-CF7437A629E2}" type="datetimeFigureOut">
              <a:rPr lang="it-IT" smtClean="0"/>
              <a:t>05/02/25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8D78ACD-B58F-E0F9-E9AB-AC5FCBB71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634A8D4-4243-20FB-3902-795CBC73E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89E3E-57B0-7145-B340-B74E85DA5F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3242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90F6A0F-C7F2-17E5-55C0-DA0736916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CF8A398-ECCC-B431-6929-494352EDE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CC05BA9-2B53-4142-0A27-842C4B7D3B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46D7E4-6826-B84E-8A79-CF7437A629E2}" type="datetimeFigureOut">
              <a:rPr lang="it-IT" smtClean="0"/>
              <a:t>05/02/25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842548D-DC16-76C3-A4B8-742557202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E436B48-AF04-FB8A-403D-6021AD96A1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89E3E-57B0-7145-B340-B74E85DA5F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2887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BC2EE16-BEB2-D993-3222-77B8F9D7E8F6}"/>
              </a:ext>
            </a:extLst>
          </p:cNvPr>
          <p:cNvSpPr txBox="1"/>
          <p:nvPr/>
        </p:nvSpPr>
        <p:spPr>
          <a:xfrm>
            <a:off x="1610285" y="2370473"/>
            <a:ext cx="89714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it-IT" sz="4000" dirty="0"/>
              <a:t>MAISON DATASET: Statistical Analysis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B7EDC2D-5D5F-08A8-8AEC-D4DF41954EE4}"/>
              </a:ext>
            </a:extLst>
          </p:cNvPr>
          <p:cNvSpPr txBox="1"/>
          <p:nvPr/>
        </p:nvSpPr>
        <p:spPr>
          <a:xfrm>
            <a:off x="5135173" y="3779642"/>
            <a:ext cx="18399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200" u="sng" dirty="0"/>
              <a:t>Dataset </a:t>
            </a:r>
            <a:r>
              <a:rPr lang="it-IT" sz="2200" u="sng" dirty="0" err="1"/>
              <a:t>daily</a:t>
            </a:r>
            <a:r>
              <a:rPr lang="it-IT" sz="2200" u="sng" dirty="0"/>
              <a:t> 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76950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4525D-542B-3802-3986-EAAACBE17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321D0488-A849-AFE5-8B18-4776F7F097D9}"/>
              </a:ext>
            </a:extLst>
          </p:cNvPr>
          <p:cNvSpPr txBox="1"/>
          <p:nvPr/>
        </p:nvSpPr>
        <p:spPr>
          <a:xfrm>
            <a:off x="732731" y="417838"/>
            <a:ext cx="4410823" cy="7017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Predictors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Tabular data (</a:t>
            </a:r>
            <a:r>
              <a:rPr lang="it-IT" dirty="0" err="1"/>
              <a:t>Table</a:t>
            </a:r>
            <a:r>
              <a:rPr lang="it-IT" dirty="0"/>
              <a:t> 2),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Acceleration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 err="1"/>
              <a:t>Heartrate</a:t>
            </a: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Motion (step)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Position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 err="1"/>
              <a:t>Sleep</a:t>
            </a: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 err="1"/>
              <a:t>Demographic</a:t>
            </a:r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r>
              <a:rPr lang="it-IT" dirty="0"/>
              <a:t>Labels (</a:t>
            </a:r>
            <a:r>
              <a:rPr lang="it-IT" dirty="0" err="1"/>
              <a:t>real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Social </a:t>
            </a:r>
            <a:r>
              <a:rPr lang="it-IT" dirty="0" err="1"/>
              <a:t>Isolation</a:t>
            </a:r>
            <a:r>
              <a:rPr lang="it-IT" dirty="0"/>
              <a:t> Scores (SISS)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Oxford Hip Scores (OHSS)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Oxford </a:t>
            </a:r>
            <a:r>
              <a:rPr lang="it-IT" dirty="0" err="1"/>
              <a:t>Knee</a:t>
            </a:r>
            <a:r>
              <a:rPr lang="it-IT" dirty="0"/>
              <a:t> Scores (OKSS)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r>
              <a:rPr lang="it-IT" dirty="0"/>
              <a:t>Labels (discrete </a:t>
            </a:r>
            <a:r>
              <a:rPr lang="it-IT" dirty="0" err="1"/>
              <a:t>values</a:t>
            </a:r>
            <a:r>
              <a:rPr lang="it-IT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Real </a:t>
            </a:r>
            <a:r>
              <a:rPr lang="it-IT" dirty="0" err="1"/>
              <a:t>values</a:t>
            </a:r>
            <a:r>
              <a:rPr lang="it-IT" dirty="0"/>
              <a:t> </a:t>
            </a:r>
            <a:r>
              <a:rPr lang="it-IT" dirty="0" err="1"/>
              <a:t>discretized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Quartiles</a:t>
            </a:r>
            <a:r>
              <a:rPr lang="it-IT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Min – Q1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Q1 – Q2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Q2- Q3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Q3 - Max</a:t>
            </a:r>
          </a:p>
          <a:p>
            <a:pPr lvl="1"/>
            <a:endParaRPr lang="it-IT" dirty="0"/>
          </a:p>
          <a:p>
            <a:pPr lvl="1"/>
            <a:r>
              <a:rPr lang="it-IT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87232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ADA6B-4D09-817A-8AB5-A06FEB99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CECF14D7-B954-86D9-04E4-9CC0BF9360E3}"/>
              </a:ext>
            </a:extLst>
          </p:cNvPr>
          <p:cNvSpPr txBox="1"/>
          <p:nvPr/>
        </p:nvSpPr>
        <p:spPr>
          <a:xfrm>
            <a:off x="732731" y="417838"/>
            <a:ext cx="4067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Label </a:t>
            </a:r>
            <a:r>
              <a:rPr lang="it-IT" dirty="0" err="1"/>
              <a:t>Correlation</a:t>
            </a:r>
            <a:r>
              <a:rPr lang="it-IT" dirty="0"/>
              <a:t> Analysis (</a:t>
            </a:r>
            <a:r>
              <a:rPr lang="it-IT" dirty="0" err="1"/>
              <a:t>real-values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	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48655A3-C53C-0829-B3CE-02632D907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74" y="1782486"/>
            <a:ext cx="3366930" cy="2783329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E57CD56F-0542-A928-67C3-8B71C15CC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721" y="1782486"/>
            <a:ext cx="3366931" cy="278333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97F96CB-2920-B764-63C4-DF4B8F170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269" y="1782487"/>
            <a:ext cx="3366931" cy="278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354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94FD0-7696-52B7-47CE-A7A3F2AE9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EBF8F41E-88CB-52F4-3B06-969B939E0380}"/>
              </a:ext>
            </a:extLst>
          </p:cNvPr>
          <p:cNvSpPr txBox="1"/>
          <p:nvPr/>
        </p:nvSpPr>
        <p:spPr>
          <a:xfrm>
            <a:off x="732731" y="417838"/>
            <a:ext cx="15896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Label Box Plot</a:t>
            </a:r>
          </a:p>
          <a:p>
            <a:pPr lvl="1"/>
            <a:r>
              <a:rPr lang="it-IT" dirty="0"/>
              <a:t>	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6D33E4AF-3932-CCE9-CA9F-F02AB34AE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077" y="1579418"/>
            <a:ext cx="3750656" cy="2315688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3022715A-F9B9-9137-2CC4-AE34173A3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580" y="1591291"/>
            <a:ext cx="3750655" cy="231568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4CEF841E-35A5-4562-C163-169D685A0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463" y="1591291"/>
            <a:ext cx="3889940" cy="240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23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B1DC5-BD58-A091-B02B-29CD6CC2A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3AEE470A-F050-08ED-EC3A-4380D37338BA}"/>
              </a:ext>
            </a:extLst>
          </p:cNvPr>
          <p:cNvSpPr txBox="1"/>
          <p:nvPr/>
        </p:nvSpPr>
        <p:spPr>
          <a:xfrm>
            <a:off x="732731" y="417838"/>
            <a:ext cx="3121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Label </a:t>
            </a:r>
            <a:r>
              <a:rPr lang="it-IT" dirty="0" err="1"/>
              <a:t>discretization</a:t>
            </a:r>
            <a:r>
              <a:rPr lang="it-IT" dirty="0"/>
              <a:t> (Quartile)</a:t>
            </a:r>
          </a:p>
          <a:p>
            <a:pPr lvl="1"/>
            <a:r>
              <a:rPr lang="it-IT" dirty="0"/>
              <a:t>	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4309D1D-E863-459A-DFC1-278D372DB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89" y="1804576"/>
            <a:ext cx="3707164" cy="276742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5067FEE-AC94-1FF7-FB58-F68ADE261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657" y="1804576"/>
            <a:ext cx="3707162" cy="276742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08601858-8EA9-94B7-9326-71DD55A26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885" y="1830249"/>
            <a:ext cx="3672772" cy="274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572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24BF3-370F-0842-A9E1-410B9AF91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77219884-8D06-81F2-F65E-D392E55A9A3D}"/>
              </a:ext>
            </a:extLst>
          </p:cNvPr>
          <p:cNvSpPr txBox="1"/>
          <p:nvPr/>
        </p:nvSpPr>
        <p:spPr>
          <a:xfrm>
            <a:off x="732731" y="417838"/>
            <a:ext cx="40610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 err="1"/>
              <a:t>Nominal</a:t>
            </a:r>
            <a:r>
              <a:rPr lang="it-IT" sz="2400" dirty="0"/>
              <a:t> </a:t>
            </a:r>
            <a:r>
              <a:rPr lang="it-IT" sz="2400" dirty="0" err="1"/>
              <a:t>Classification</a:t>
            </a:r>
            <a:r>
              <a:rPr lang="it-IT" sz="2400" dirty="0"/>
              <a:t> (SISS)</a:t>
            </a:r>
          </a:p>
          <a:p>
            <a:pPr lvl="1"/>
            <a:r>
              <a:rPr lang="it-IT" dirty="0"/>
              <a:t>	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E071D26-529C-FA73-FDC9-5821E95940C5}"/>
              </a:ext>
            </a:extLst>
          </p:cNvPr>
          <p:cNvSpPr txBox="1"/>
          <p:nvPr/>
        </p:nvSpPr>
        <p:spPr>
          <a:xfrm>
            <a:off x="771896" y="1246909"/>
            <a:ext cx="34463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XGB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Leave</a:t>
            </a:r>
            <a:r>
              <a:rPr lang="it-IT" dirty="0"/>
              <a:t> One </a:t>
            </a:r>
            <a:r>
              <a:rPr lang="it-IT" dirty="0" err="1"/>
              <a:t>Patient</a:t>
            </a:r>
            <a:r>
              <a:rPr lang="it-IT" dirty="0"/>
              <a:t> Out (LOPO)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Hyp</a:t>
            </a:r>
            <a:r>
              <a:rPr lang="it-IT" dirty="0"/>
              <a:t> Tuning: </a:t>
            </a:r>
            <a:r>
              <a:rPr lang="it-IT" dirty="0" err="1"/>
              <a:t>Nested</a:t>
            </a:r>
            <a:r>
              <a:rPr lang="it-IT" dirty="0"/>
              <a:t> LOPO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85B19267-51E7-90E2-E0CC-CDA07B52B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362649"/>
              </p:ext>
            </p:extLst>
          </p:nvPr>
        </p:nvGraphicFramePr>
        <p:xfrm>
          <a:off x="779398" y="2508550"/>
          <a:ext cx="3915430" cy="26230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3086">
                  <a:extLst>
                    <a:ext uri="{9D8B030D-6E8A-4147-A177-3AD203B41FA5}">
                      <a16:colId xmlns:a16="http://schemas.microsoft.com/office/drawing/2014/main" val="1872651456"/>
                    </a:ext>
                  </a:extLst>
                </a:gridCol>
                <a:gridCol w="783086">
                  <a:extLst>
                    <a:ext uri="{9D8B030D-6E8A-4147-A177-3AD203B41FA5}">
                      <a16:colId xmlns:a16="http://schemas.microsoft.com/office/drawing/2014/main" val="3785353400"/>
                    </a:ext>
                  </a:extLst>
                </a:gridCol>
                <a:gridCol w="783086">
                  <a:extLst>
                    <a:ext uri="{9D8B030D-6E8A-4147-A177-3AD203B41FA5}">
                      <a16:colId xmlns:a16="http://schemas.microsoft.com/office/drawing/2014/main" val="532531055"/>
                    </a:ext>
                  </a:extLst>
                </a:gridCol>
                <a:gridCol w="783086">
                  <a:extLst>
                    <a:ext uri="{9D8B030D-6E8A-4147-A177-3AD203B41FA5}">
                      <a16:colId xmlns:a16="http://schemas.microsoft.com/office/drawing/2014/main" val="3695087773"/>
                    </a:ext>
                  </a:extLst>
                </a:gridCol>
                <a:gridCol w="783086">
                  <a:extLst>
                    <a:ext uri="{9D8B030D-6E8A-4147-A177-3AD203B41FA5}">
                      <a16:colId xmlns:a16="http://schemas.microsoft.com/office/drawing/2014/main" val="368059138"/>
                    </a:ext>
                  </a:extLst>
                </a:gridCol>
              </a:tblGrid>
              <a:tr h="402002"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1100" u="none" strike="noStrike">
                          <a:effectLst/>
                        </a:rPr>
                        <a:t>Macro-F1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1100" u="none" strike="noStrike">
                          <a:effectLst/>
                        </a:rPr>
                        <a:t>Balanced Accuracy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1100" u="none" strike="noStrike">
                          <a:effectLst/>
                        </a:rPr>
                        <a:t>Macro Recall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1100" u="none" strike="noStrike">
                          <a:effectLst/>
                        </a:rPr>
                        <a:t>Macro Precision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658007056"/>
                  </a:ext>
                </a:extLst>
              </a:tr>
              <a:tr h="222101">
                <a:tc>
                  <a:txBody>
                    <a:bodyPr/>
                    <a:lstStyle/>
                    <a:p>
                      <a:pPr algn="ctr" fontAlgn="t"/>
                      <a:r>
                        <a:rPr lang="it-IT" sz="1100" u="none" strike="noStrike">
                          <a:effectLst/>
                        </a:rPr>
                        <a:t>0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0,262963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0,291063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0,194042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0,417582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6705203"/>
                  </a:ext>
                </a:extLst>
              </a:tr>
              <a:tr h="222101">
                <a:tc>
                  <a:txBody>
                    <a:bodyPr/>
                    <a:lstStyle/>
                    <a:p>
                      <a:pPr algn="ctr" fontAlgn="t"/>
                      <a:r>
                        <a:rPr lang="it-IT" sz="1100" u="none" strike="noStrike">
                          <a:effectLst/>
                        </a:rPr>
                        <a:t>1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0,071429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0,086207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0,043103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0,208333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20782725"/>
                  </a:ext>
                </a:extLst>
              </a:tr>
              <a:tr h="222101">
                <a:tc>
                  <a:txBody>
                    <a:bodyPr/>
                    <a:lstStyle/>
                    <a:p>
                      <a:pPr algn="ctr" fontAlgn="t"/>
                      <a:r>
                        <a:rPr lang="it-IT" sz="1100" u="none" strike="noStrike">
                          <a:effectLst/>
                        </a:rPr>
                        <a:t>2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0,241667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0,5227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0,26135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0,303571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17346597"/>
                  </a:ext>
                </a:extLst>
              </a:tr>
              <a:tr h="222101">
                <a:tc>
                  <a:txBody>
                    <a:bodyPr/>
                    <a:lstStyle/>
                    <a:p>
                      <a:pPr algn="ctr" fontAlgn="t"/>
                      <a:r>
                        <a:rPr lang="it-IT" sz="1100" u="none" strike="noStrike">
                          <a:effectLst/>
                        </a:rPr>
                        <a:t>3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0,208835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0,45614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0,152047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0,333333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4987630"/>
                  </a:ext>
                </a:extLst>
              </a:tr>
              <a:tr h="222101">
                <a:tc>
                  <a:txBody>
                    <a:bodyPr/>
                    <a:lstStyle/>
                    <a:p>
                      <a:pPr algn="ctr" fontAlgn="t"/>
                      <a:r>
                        <a:rPr lang="it-IT" sz="1100" u="none" strike="noStrike">
                          <a:effectLst/>
                        </a:rPr>
                        <a:t>4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6824021"/>
                  </a:ext>
                </a:extLst>
              </a:tr>
              <a:tr h="222101">
                <a:tc>
                  <a:txBody>
                    <a:bodyPr/>
                    <a:lstStyle/>
                    <a:p>
                      <a:pPr algn="ctr" fontAlgn="t"/>
                      <a:r>
                        <a:rPr lang="it-IT" sz="1100" u="none" strike="noStrike">
                          <a:effectLst/>
                        </a:rPr>
                        <a:t>5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0,195105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0,335249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0,167625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0,25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30054940"/>
                  </a:ext>
                </a:extLst>
              </a:tr>
              <a:tr h="222101">
                <a:tc>
                  <a:txBody>
                    <a:bodyPr/>
                    <a:lstStyle/>
                    <a:p>
                      <a:pPr algn="ctr" fontAlgn="t"/>
                      <a:r>
                        <a:rPr lang="it-IT" sz="1100" u="none" strike="noStrike">
                          <a:effectLst/>
                        </a:rPr>
                        <a:t>6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0,170968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0,344444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0,172222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0,207143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2964243"/>
                  </a:ext>
                </a:extLst>
              </a:tr>
              <a:tr h="222101">
                <a:tc>
                  <a:txBody>
                    <a:bodyPr/>
                    <a:lstStyle/>
                    <a:p>
                      <a:pPr algn="ctr" fontAlgn="t"/>
                      <a:r>
                        <a:rPr lang="it-IT" sz="1100" u="none" strike="noStrike">
                          <a:effectLst/>
                        </a:rPr>
                        <a:t>7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0,390252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0,405844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0,405844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0,431034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23985864"/>
                  </a:ext>
                </a:extLst>
              </a:tr>
              <a:tr h="222101">
                <a:tc>
                  <a:txBody>
                    <a:bodyPr/>
                    <a:lstStyle/>
                    <a:p>
                      <a:pPr algn="ctr" fontAlgn="t"/>
                      <a:r>
                        <a:rPr lang="it-IT" sz="1100" u="none" strike="noStrike">
                          <a:effectLst/>
                        </a:rPr>
                        <a:t>8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0,15493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0,252874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0,189655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0,130952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43238401"/>
                  </a:ext>
                </a:extLst>
              </a:tr>
              <a:tr h="222101">
                <a:tc>
                  <a:txBody>
                    <a:bodyPr/>
                    <a:lstStyle/>
                    <a:p>
                      <a:pPr algn="ctr" fontAlgn="t"/>
                      <a:r>
                        <a:rPr lang="it-IT" sz="1100" u="none" strike="noStrike">
                          <a:effectLst/>
                        </a:rPr>
                        <a:t>9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0,008772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0,017857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0,004464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 dirty="0">
                          <a:effectLst/>
                        </a:rPr>
                        <a:t>0,25</a:t>
                      </a:r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5299251"/>
                  </a:ext>
                </a:extLst>
              </a:tr>
            </a:tbl>
          </a:graphicData>
        </a:graphic>
      </p:graphicFrame>
      <p:pic>
        <p:nvPicPr>
          <p:cNvPr id="9" name="Immagine 8">
            <a:extLst>
              <a:ext uri="{FF2B5EF4-FFF2-40B4-BE49-F238E27FC236}">
                <a16:creationId xmlns:a16="http://schemas.microsoft.com/office/drawing/2014/main" id="{904EFA4B-0797-DA6F-A170-B638EBFD2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46909"/>
            <a:ext cx="46101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18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112F0-97C7-4589-B19E-BA9D528E5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EA1253D-DA41-AA4B-14CC-BFC8584C416B}"/>
              </a:ext>
            </a:extLst>
          </p:cNvPr>
          <p:cNvSpPr txBox="1"/>
          <p:nvPr/>
        </p:nvSpPr>
        <p:spPr>
          <a:xfrm>
            <a:off x="732731" y="417838"/>
            <a:ext cx="1239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Next steps</a:t>
            </a:r>
          </a:p>
          <a:p>
            <a:pPr lvl="1"/>
            <a:r>
              <a:rPr lang="it-IT" dirty="0"/>
              <a:t>	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0553A74-7656-FE31-195D-E433B785A813}"/>
              </a:ext>
            </a:extLst>
          </p:cNvPr>
          <p:cNvSpPr txBox="1"/>
          <p:nvPr/>
        </p:nvSpPr>
        <p:spPr>
          <a:xfrm>
            <a:off x="760021" y="1318161"/>
            <a:ext cx="88176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Multi-task learning (Leverage </a:t>
            </a:r>
            <a:r>
              <a:rPr lang="it-IT" dirty="0" err="1"/>
              <a:t>relationships</a:t>
            </a:r>
            <a:r>
              <a:rPr lang="it-IT" dirty="0"/>
              <a:t> </a:t>
            </a:r>
            <a:r>
              <a:rPr lang="it-IT" dirty="0" err="1"/>
              <a:t>among</a:t>
            </a:r>
            <a:r>
              <a:rPr lang="it-IT" dirty="0"/>
              <a:t> tasks: SISS, OHSS, OKSS)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Ordinal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 (</a:t>
            </a:r>
            <a:r>
              <a:rPr lang="it-IT" dirty="0" err="1"/>
              <a:t>Minimize</a:t>
            </a:r>
            <a:r>
              <a:rPr lang="it-IT" dirty="0"/>
              <a:t> the </a:t>
            </a:r>
            <a:r>
              <a:rPr lang="it-IT" dirty="0" err="1"/>
              <a:t>error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distant</a:t>
            </a:r>
            <a:r>
              <a:rPr lang="it-IT" dirty="0"/>
              <a:t> classes </a:t>
            </a:r>
            <a:r>
              <a:rPr lang="it-IT" dirty="0" err="1"/>
              <a:t>within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tasks)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Combine MTL + </a:t>
            </a:r>
            <a:r>
              <a:rPr lang="it-IT" dirty="0" err="1"/>
              <a:t>Ordinal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969200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198</Words>
  <Application>Microsoft Macintosh PowerPoint</Application>
  <PresentationFormat>Widescreen</PresentationFormat>
  <Paragraphs>97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luca.romeo@unimc.it</dc:creator>
  <cp:lastModifiedBy>luca.romeo@unimc.it</cp:lastModifiedBy>
  <cp:revision>11</cp:revision>
  <dcterms:created xsi:type="dcterms:W3CDTF">2025-01-30T13:40:34Z</dcterms:created>
  <dcterms:modified xsi:type="dcterms:W3CDTF">2025-02-05T16:09:57Z</dcterms:modified>
</cp:coreProperties>
</file>